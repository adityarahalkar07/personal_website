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420" r:id="rId2"/>
    <p:sldId id="421" r:id="rId3"/>
    <p:sldId id="422" r:id="rId4"/>
    <p:sldId id="423" r:id="rId5"/>
    <p:sldId id="424" r:id="rId6"/>
    <p:sldId id="425" r:id="rId7"/>
    <p:sldId id="427" r:id="rId8"/>
    <p:sldId id="426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7F40"/>
    <a:srgbClr val="9D4A5A"/>
    <a:srgbClr val="455465"/>
    <a:srgbClr val="005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4626"/>
  </p:normalViewPr>
  <p:slideViewPr>
    <p:cSldViewPr snapToGrid="0">
      <p:cViewPr varScale="1">
        <p:scale>
          <a:sx n="116" d="100"/>
          <a:sy n="116" d="100"/>
        </p:scale>
        <p:origin x="1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D81FB-8AED-7649-A8AE-137AB4F3EAD4}" type="datetimeFigureOut">
              <a:rPr lang="en-US" smtClean="0"/>
              <a:t>5/28/25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46C9F-29E0-334E-B1B2-1F7F5C6585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36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//Users/chris/Library/CloudStorage/Egnyte-tgd/Shared/Shared%20Files/TGD%20Shared%20Files/AREMA/Current/ARE065%202025%20PPT%20&amp;%20Keycard/PDFs/PPT%20PNGs/2/ARE065%202025AC%20PPT-1.png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file:////Users/chris/Library/CloudStorage/Egnyte-tgd/Shared/Shared%20Files/TGD%20Shared%20Files/AREMA/Current/ARE065%202025%20PPT%20&amp;%20Keycard/PDFs/PPT%20PNGs/ARE065%202025AC%20PPT-3.png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flyer&#10;&#10;AI-generated content may be incorrect.">
            <a:extLst>
              <a:ext uri="{FF2B5EF4-FFF2-40B4-BE49-F238E27FC236}">
                <a16:creationId xmlns:a16="http://schemas.microsoft.com/office/drawing/2014/main" id="{2EA27B5D-3EA5-34B2-3A7E-E1EE329D4A58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23C002-AD65-15B9-DD2D-97C455B0A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496" y="2753138"/>
            <a:ext cx="5585792" cy="2146853"/>
          </a:xfrm>
        </p:spPr>
        <p:txBody>
          <a:bodyPr anchor="b">
            <a:normAutofit/>
          </a:bodyPr>
          <a:lstStyle>
            <a:lvl1pPr algn="l"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1C08B-1DF7-CAD2-28EE-A9D41198A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496" y="5009321"/>
            <a:ext cx="5585792" cy="10690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4238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38F4-01CD-4597-7D96-617F71DB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A898D-9B8E-2D42-C0DB-E11E524C1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1C485-5010-D84F-2C55-D19A73FF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408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rain going through a tunnel&#10;&#10;AI-generated content may be incorrect.">
            <a:extLst>
              <a:ext uri="{FF2B5EF4-FFF2-40B4-BE49-F238E27FC236}">
                <a16:creationId xmlns:a16="http://schemas.microsoft.com/office/drawing/2014/main" id="{3D4FDDBE-DCC8-BD5D-1BFE-F7031CB049E8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9542DE-3761-2ECD-E945-55C4BD80A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34" y="727076"/>
            <a:ext cx="8087415" cy="2859630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8BB52-9D5F-3160-6A97-A719C99AD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0034" y="3856384"/>
            <a:ext cx="8087415" cy="1568864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6FE4F-1DFD-8772-3223-0956CD4E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69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BAF13-6659-7F40-ECE0-EE61CEF8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F5E8D-CB57-1EC6-49D5-C691BD104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7078" y="1321904"/>
            <a:ext cx="5486400" cy="48550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4AA4E-9B1C-2344-9144-6155D00E7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21904"/>
            <a:ext cx="5756542" cy="48550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64336-87CA-2798-67DE-D99A9381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1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C67F-9C1D-B9AB-4050-033114EA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31" y="1"/>
            <a:ext cx="8368747" cy="11330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C4530-5DED-F766-0807-BD653F8F3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532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81DE9-F9CA-A3C7-8034-3E2E3EB77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923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B5345D-C7BC-8B84-37CE-FBFA99806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5322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308218-0D6B-EF34-2F6E-5A9BFD31F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923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556FD7-D7A9-1CD4-6EFF-442940AD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93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2914-9375-3C57-B558-74498621F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F3B17-CEF4-EBDD-5A97-D42F85E5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06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CFB10-622B-18B9-1615-68B4379E7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26FF2E2-66AD-A458-C030-D5F8097623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99862" y="62779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54A6"/>
                </a:solidFill>
              </a:defRPr>
            </a:lvl1pPr>
          </a:lstStyle>
          <a:p>
            <a:fld id="{139E64EB-CF7F-0746-B07B-CFCC16117EE4}" type="datetime1">
              <a:rPr lang="en-US" smtClean="0"/>
              <a:t>5/28/25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831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CA16-BAF8-D281-9822-D6D1FE64E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70" y="0"/>
            <a:ext cx="8323916" cy="1133061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424F6-AC64-ADE8-7FFA-78957EFC0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441174"/>
            <a:ext cx="6172200" cy="461175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ABE2-C2CF-6E40-C572-311B701D0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49112"/>
            <a:ext cx="3932237" cy="46117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CB34D-0BCB-6DCD-16DD-5CD2DAD2C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63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21A0F-D54B-28A4-3D67-35175FCE2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69" y="0"/>
            <a:ext cx="7725253" cy="1133061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974816-DA05-B7CD-3CC8-5DA22D1BA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540565"/>
            <a:ext cx="6172200" cy="45024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79645-F8D2-5D33-5B27-F7E7C2105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40238"/>
            <a:ext cx="3932237" cy="45110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FE8A5-C677-47D8-ACA9-A0166DD3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126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58D5-D73E-D424-44FE-A414BDCA5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B3E51-A639-15F2-6F66-71E61C16E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F1186-1251-7B4B-E7AA-5AE70043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D4F0B4A-F711-D488-5FC1-CA334DDB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99862" y="62779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54A6"/>
                </a:solidFill>
              </a:defRPr>
            </a:lvl1pPr>
          </a:lstStyle>
          <a:p>
            <a:fld id="{216EE57E-18D3-4A43-B678-71A8BD4E0A83}" type="datetime1">
              <a:rPr lang="en-US" smtClean="0"/>
              <a:t>5/28/25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BE57AF-6A9D-1705-EBDE-7E6A17DE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00262" y="62779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54A6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099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904EAA-505E-11E9-0C8C-48DDEEB5C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401417"/>
            <a:ext cx="2628900" cy="4775546"/>
          </a:xfrm>
        </p:spPr>
        <p:txBody>
          <a:bodyPr vert="eaVert"/>
          <a:lstStyle>
            <a:lvl1pPr>
              <a:defRPr>
                <a:solidFill>
                  <a:srgbClr val="9D4A5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AA949-1EBB-40CF-3C9A-F14F4F519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417"/>
            <a:ext cx="7734300" cy="477554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EEB2F-D660-BEF1-7B39-38397DC5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69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file:////Users/chris/Library/CloudStorage/Egnyte-tgd/Shared/Shared%20Files/TGD%20Shared%20Files/AREMA/Current/ARE065%202025%20PPT%20&amp;%20Keycard/PDFs/PPT%20PNGs/2/ARE065%202025AC%20PPT-2.png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screen&#10;&#10;AI-generated content may be incorrect.">
            <a:extLst>
              <a:ext uri="{FF2B5EF4-FFF2-40B4-BE49-F238E27FC236}">
                <a16:creationId xmlns:a16="http://schemas.microsoft.com/office/drawing/2014/main" id="{DC28DCD0-AF35-4EA8-8460-732741A27395}"/>
              </a:ext>
            </a:extLst>
          </p:cNvPr>
          <p:cNvPicPr>
            <a:picLocks noChangeAspect="1"/>
          </p:cNvPicPr>
          <p:nvPr userDrawn="1"/>
        </p:nvPicPr>
        <p:blipFill>
          <a:blip r:embed="rId13" r:link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9D983A-E5E9-6A22-8A1C-B9368EBF8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30" y="2"/>
            <a:ext cx="8388627" cy="1133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CCAC7-CE9B-1500-1C28-CED70A7F7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261" y="1411357"/>
            <a:ext cx="11400182" cy="474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CDBBD-D703-EFF1-3066-1C2B9B0CD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2851" y="6152322"/>
            <a:ext cx="859691" cy="3673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455465"/>
                </a:solidFill>
              </a:defRPr>
            </a:lvl1pPr>
          </a:lstStyle>
          <a:p>
            <a:fld id="{43A5499B-0491-FA4B-B840-CD62B71F6EB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05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rgbClr val="45546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rgbClr val="45546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45546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5546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5546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17C6A-678A-7991-55E2-981377DBB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25DEB-779F-5617-B437-142C03F53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192" y="2843784"/>
            <a:ext cx="5992104" cy="1855039"/>
          </a:xfrm>
        </p:spPr>
        <p:txBody>
          <a:bodyPr>
            <a:normAutofit fontScale="90000"/>
          </a:bodyPr>
          <a:lstStyle/>
          <a:p>
            <a:r>
              <a:rPr lang="en-US" dirty="0"/>
              <a:t>Avoiding the Curveball: Detecting Missing Rail Grease with Mobile Lasers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80080-8C67-9711-3732-8146F16A1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192" y="5045897"/>
            <a:ext cx="7439240" cy="979999"/>
          </a:xfrm>
        </p:spPr>
        <p:txBody>
          <a:bodyPr>
            <a:normAutofit/>
          </a:bodyPr>
          <a:lstStyle/>
          <a:p>
            <a:r>
              <a:rPr lang="en-US" dirty="0"/>
              <a:t>Aditya Rahalkar, S. Morteza Mirzaei, Dr. Yang Chen, Carvel Holton, Dr. Mehdi Ahmadian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434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8D835-CE62-EA0C-166B-563152FD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832E-AAF2-F57C-FE0D-EA5273BA7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A8933-E989-5475-337D-4D11C0E4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1" y="1243585"/>
            <a:ext cx="11400182" cy="5184647"/>
          </a:xfrm>
        </p:spPr>
        <p:txBody>
          <a:bodyPr>
            <a:normAutofit fontScale="47500" lnSpcReduction="20000"/>
          </a:bodyPr>
          <a:lstStyle/>
          <a:p>
            <a:pPr marL="91440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Introduction</a:t>
            </a:r>
          </a:p>
          <a:p>
            <a:pPr marL="548640" lvl="2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Background</a:t>
            </a:r>
          </a:p>
          <a:p>
            <a:pPr marL="548640" lvl="2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Study Motivation and Objective</a:t>
            </a:r>
          </a:p>
          <a:p>
            <a:pPr marL="91440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Design and Functionality of Railway Technologies Laboratory’s (RTL) Laser-Based Grease Detection System</a:t>
            </a:r>
          </a:p>
          <a:p>
            <a:pPr marL="548640" lvl="2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Technical Approach Toward System Design</a:t>
            </a:r>
          </a:p>
          <a:p>
            <a:pPr marL="548640" lvl="2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Mobile Rail Cart Configuration for RTL System</a:t>
            </a:r>
          </a:p>
          <a:p>
            <a:pPr marL="91440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Performance Evaluation of the System Through Dynamic Laboratory Tests</a:t>
            </a:r>
          </a:p>
          <a:p>
            <a:pPr marL="548640" lvl="2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Test Setup</a:t>
            </a:r>
          </a:p>
          <a:p>
            <a:pPr marL="548640" lvl="2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Results</a:t>
            </a:r>
          </a:p>
          <a:p>
            <a:pPr marL="91440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Low-Speed Field Tests</a:t>
            </a:r>
          </a:p>
          <a:p>
            <a:pPr marL="548640" lvl="2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Field Test Setup</a:t>
            </a:r>
          </a:p>
          <a:p>
            <a:pPr marL="548640" lvl="2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Field Test Session 1 (Christiansburg, VA)</a:t>
            </a:r>
          </a:p>
          <a:p>
            <a:pPr marL="548640" lvl="2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Field Test Session 2 (Roanoke, VA)</a:t>
            </a:r>
          </a:p>
          <a:p>
            <a:pPr marL="548640" lvl="2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Results</a:t>
            </a:r>
          </a:p>
          <a:p>
            <a:pPr marL="91440">
              <a:lnSpc>
                <a:spcPct val="120000"/>
              </a:lnSpc>
              <a:spcBef>
                <a:spcPts val="100"/>
              </a:spcBef>
            </a:pPr>
            <a:r>
              <a:rPr lang="en-US" sz="4200" dirty="0"/>
              <a:t>Conclusions</a:t>
            </a:r>
          </a:p>
          <a:p>
            <a:pPr lvl="1"/>
            <a:endParaRPr lang="en-US" sz="900" dirty="0"/>
          </a:p>
          <a:p>
            <a:pPr lvl="1"/>
            <a:endParaRPr lang="en-US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E9726-983C-6AEF-B633-6FCAA980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851" y="6152322"/>
            <a:ext cx="859691" cy="3673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rgbClr val="45546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3A5499B-0491-FA4B-B840-CD62B71F6EB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363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AB4C8-EC9B-2100-7B74-EDACB75F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E43F4-B5C9-7F20-23C5-32FA8374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Trains on Track: The Role of Flange Lubrication in Safety and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40898-E613-2693-F239-FB61ECE06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67" y="1133061"/>
            <a:ext cx="8502967" cy="43167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900" dirty="0"/>
              <a:t>Flange-face lubrication is critical for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US" sz="1900" dirty="0"/>
              <a:t>Reducing wheel and rail wear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US" sz="1900" dirty="0"/>
              <a:t>Preventing wheel-climb derailment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US" sz="1900" dirty="0"/>
              <a:t>Decreasing wheel squeal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US" sz="1900" dirty="0"/>
              <a:t>Reducing fuel consumption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900" dirty="0"/>
              <a:t>Grease is applied via wayside applicators near curves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900" dirty="0"/>
              <a:t>When grease applicators fail, the consequences multiply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US" sz="1900" dirty="0"/>
              <a:t>25% of grease applicators were found dysfunctional in Australian rail inspections [Ref 2]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US" sz="1900" dirty="0"/>
              <a:t>Over $2 billion/year is lost in the U.S. due to improper flange lubrication [Ref 3]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US" sz="1900" dirty="0"/>
              <a:t>In 2004 alone, track repairs from poor lubrication cost over $10 billion [Ref 4]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US" sz="1900" dirty="0"/>
              <a:t>Unlubricated rails = high flange forces = higher derailment risk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83A0B-E2DC-1738-CCF8-7AE636A6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851" y="6152322"/>
            <a:ext cx="859691" cy="3673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rgbClr val="45546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3A5499B-0491-FA4B-B840-CD62B71F6EB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 descr="A close-up of a metal surface&#10;&#10;Description automatically generated">
            <a:extLst>
              <a:ext uri="{FF2B5EF4-FFF2-40B4-BE49-F238E27FC236}">
                <a16:creationId xmlns:a16="http://schemas.microsoft.com/office/drawing/2014/main" id="{AC9AC32F-4D03-716E-F588-668BEF1CC0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734278" y="1185440"/>
            <a:ext cx="3339655" cy="16195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AA2D7D-AAE9-E6D3-6103-72F3921FF31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66902" y="4624406"/>
            <a:ext cx="3121802" cy="18586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B08CA2-A990-05E8-5751-4F66FDF23F3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967" y="2843184"/>
            <a:ext cx="3100737" cy="1724725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335D0E1-84A6-38D2-E07D-ADD57AE25369}"/>
              </a:ext>
            </a:extLst>
          </p:cNvPr>
          <p:cNvSpPr txBox="1">
            <a:spLocks/>
          </p:cNvSpPr>
          <p:nvPr/>
        </p:nvSpPr>
        <p:spPr>
          <a:xfrm>
            <a:off x="288440" y="5420302"/>
            <a:ext cx="8706221" cy="1238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rgbClr val="455465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455465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55465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5546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55465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ea typeface="SimSun" panose="02010600030101010101" pitchFamily="2" charset="-122"/>
              </a:rPr>
              <a:t>Ref 1</a:t>
            </a:r>
            <a:r>
              <a:rPr lang="en-US" sz="1000" dirty="0">
                <a:ea typeface="SimSun" panose="02010600030101010101" pitchFamily="2" charset="-122"/>
              </a:rPr>
              <a:t>. Chattopadhyay G, Desai A, Sroba P, et al. Best practice in rail curve lubrication and remote performance monitoring in heavy haul lines, AusRail Conference and Exhibition. Australia; 2010, p.1-7.</a:t>
            </a:r>
          </a:p>
          <a:p>
            <a:r>
              <a:rPr lang="en-US" sz="1000" b="1" dirty="0">
                <a:ea typeface="SimSun" panose="02010600030101010101" pitchFamily="2" charset="-122"/>
              </a:rPr>
              <a:t>Ref 2</a:t>
            </a:r>
            <a:r>
              <a:rPr lang="en-US" sz="1000" dirty="0">
                <a:ea typeface="SimSun" panose="02010600030101010101" pitchFamily="2" charset="-122"/>
              </a:rPr>
              <a:t>. Kramer J. Rail lubrication--a solid future? Railway track and structures. 1994; 90(11): 31-33.</a:t>
            </a:r>
          </a:p>
          <a:p>
            <a:r>
              <a:rPr lang="en-US" sz="1000" b="1" dirty="0">
                <a:ea typeface="SimSun" panose="02010600030101010101" pitchFamily="2" charset="-122"/>
              </a:rPr>
              <a:t>Ref 3</a:t>
            </a:r>
            <a:r>
              <a:rPr lang="en-US" sz="1000" dirty="0">
                <a:ea typeface="SimSun" panose="02010600030101010101" pitchFamily="2" charset="-122"/>
              </a:rPr>
              <a:t>. Sid D, Wolf E. Tracglide top-of-rail lubrication system, Report from Department of Energy, USA. 2006.</a:t>
            </a:r>
          </a:p>
          <a:p>
            <a:r>
              <a:rPr lang="en-US" sz="1000" b="1" dirty="0">
                <a:ea typeface="SimSun" panose="02010600030101010101" pitchFamily="2" charset="-122"/>
              </a:rPr>
              <a:t>Ref 4</a:t>
            </a:r>
            <a:r>
              <a:rPr lang="en-US" sz="1000" dirty="0">
                <a:ea typeface="SimSun" panose="02010600030101010101" pitchFamily="2" charset="-122"/>
              </a:rPr>
              <a:t>. Daniels LE. Track maintenance costs on rail transit properties. 2009. (TCRP Project J-7).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4B864B-FD3C-BE87-6B82-133BF94B88C6}"/>
              </a:ext>
            </a:extLst>
          </p:cNvPr>
          <p:cNvSpPr txBox="1"/>
          <p:nvPr/>
        </p:nvSpPr>
        <p:spPr>
          <a:xfrm>
            <a:off x="8887967" y="4309198"/>
            <a:ext cx="895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Ref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32A827-F332-4EE1-BB7F-5D134E2F9CBD}"/>
              </a:ext>
            </a:extLst>
          </p:cNvPr>
          <p:cNvSpPr txBox="1"/>
          <p:nvPr/>
        </p:nvSpPr>
        <p:spPr>
          <a:xfrm>
            <a:off x="8866901" y="6157075"/>
            <a:ext cx="895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Ref 1</a:t>
            </a:r>
          </a:p>
        </p:txBody>
      </p:sp>
    </p:spTree>
    <p:extLst>
      <p:ext uri="{BB962C8B-B14F-4D97-AF65-F5344CB8AC3E}">
        <p14:creationId xmlns:p14="http://schemas.microsoft.com/office/powerpoint/2010/main" val="1331825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F856-CCC7-B9C2-79FB-66501C72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Smarter: A Call for Scalable, Non-Contact Lubrication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29479-F07D-59AB-A726-3F1681994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818981"/>
            <a:ext cx="8188288" cy="41196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400" b="1" dirty="0"/>
              <a:t>Limitations of existing lubricity assessment methods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en-US" sz="2400" dirty="0"/>
              <a:t>Visual inspection rely on detecting sheen or rubbing grease with a finger</a:t>
            </a:r>
          </a:p>
          <a:p>
            <a:pPr lvl="2">
              <a:lnSpc>
                <a:spcPct val="100000"/>
              </a:lnSpc>
              <a:spcBef>
                <a:spcPts val="200"/>
              </a:spcBef>
            </a:pPr>
            <a:r>
              <a:rPr lang="en-US" sz="2400" dirty="0"/>
              <a:t>Time consuming, subjective and limited to short sections of track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en-US" sz="2400" dirty="0"/>
              <a:t>Tribometers provide friction data but not direct grease condition</a:t>
            </a:r>
          </a:p>
          <a:p>
            <a:pPr lvl="2">
              <a:lnSpc>
                <a:spcPct val="100000"/>
              </a:lnSpc>
              <a:spcBef>
                <a:spcPts val="200"/>
              </a:spcBef>
            </a:pPr>
            <a:r>
              <a:rPr lang="en-US" sz="2400" dirty="0"/>
              <a:t>Not ideal for long distances or mobile use</a:t>
            </a:r>
          </a:p>
          <a:p>
            <a:pPr lvl="2">
              <a:lnSpc>
                <a:spcPct val="100000"/>
              </a:lnSpc>
              <a:spcBef>
                <a:spcPts val="200"/>
              </a:spcBef>
            </a:pPr>
            <a:r>
              <a:rPr lang="en-US" sz="2400" dirty="0"/>
              <a:t>Results vary due to operator dependency and inconsistent readings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01F9D-8C09-E287-1B4E-C484EA68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DDC0E-31EE-2CC2-EAB2-5B7D6C4B581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8131" y="1229585"/>
            <a:ext cx="3435654" cy="2552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ABBEF3-1FE8-B640-0F87-45E9D5753B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8131" y="3878809"/>
            <a:ext cx="3435654" cy="25734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6A036E-9B87-001C-F3FA-CE9638F0BE46}"/>
              </a:ext>
            </a:extLst>
          </p:cNvPr>
          <p:cNvSpPr txBox="1"/>
          <p:nvPr/>
        </p:nvSpPr>
        <p:spPr>
          <a:xfrm>
            <a:off x="8668131" y="1219646"/>
            <a:ext cx="13363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Finger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5BE4E9-3C5F-515B-FEF2-8F49F1365266}"/>
              </a:ext>
            </a:extLst>
          </p:cNvPr>
          <p:cNvSpPr txBox="1"/>
          <p:nvPr/>
        </p:nvSpPr>
        <p:spPr>
          <a:xfrm>
            <a:off x="10680777" y="3878809"/>
            <a:ext cx="19621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Tribometer test</a:t>
            </a:r>
          </a:p>
        </p:txBody>
      </p:sp>
    </p:spTree>
    <p:extLst>
      <p:ext uri="{BB962C8B-B14F-4D97-AF65-F5344CB8AC3E}">
        <p14:creationId xmlns:p14="http://schemas.microsoft.com/office/powerpoint/2010/main" val="2810686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EAD5-5147-A6C7-FE36-EB4FB627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Solution? </a:t>
            </a:r>
            <a:r>
              <a:rPr lang="en-US" dirty="0"/>
              <a:t>RTL’s Non-Contact Optical Grease Detection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9C7AD-8B1D-40C9-FC07-2D22FBC3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B20985-5457-AEFE-D54B-2D255006C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9604" y="1567848"/>
            <a:ext cx="4769073" cy="4584474"/>
          </a:xfrm>
        </p:spPr>
        <p:txBody>
          <a:bodyPr>
            <a:noAutofit/>
          </a:bodyPr>
          <a:lstStyle/>
          <a:p>
            <a:r>
              <a:rPr lang="en-US" sz="2800" dirty="0"/>
              <a:t>Develop a mobile laser-based system to detect the presence and absence of flange grease</a:t>
            </a:r>
          </a:p>
          <a:p>
            <a:r>
              <a:rPr lang="en-US" sz="2800" dirty="0"/>
              <a:t>Designed for Hyrail trucks and robotic platforms to assess lubrication levels at track speeds</a:t>
            </a:r>
          </a:p>
          <a:p>
            <a:r>
              <a:rPr lang="en-US" sz="2800" dirty="0"/>
              <a:t>Supports predictive maintenance by identifying dry curves early</a:t>
            </a:r>
          </a:p>
        </p:txBody>
      </p:sp>
      <p:pic>
        <p:nvPicPr>
          <p:cNvPr id="9" name="Picture 8" descr="The figure shows an inside view of the sensors’ assembly for Unit 1 and Unit 2">
            <a:extLst>
              <a:ext uri="{FF2B5EF4-FFF2-40B4-BE49-F238E27FC236}">
                <a16:creationId xmlns:a16="http://schemas.microsoft.com/office/drawing/2014/main" id="{DA3884FF-3808-ED3B-6C5F-9FFFF96B16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23" y="1350244"/>
            <a:ext cx="4860513" cy="2380757"/>
          </a:xfrm>
          <a:prstGeom prst="rect">
            <a:avLst/>
          </a:prstGeom>
        </p:spPr>
      </p:pic>
      <p:pic>
        <p:nvPicPr>
          <p:cNvPr id="10" name="Picture 9" descr="A machine with wheels and sensors&#10;&#10;Description automatically generated">
            <a:extLst>
              <a:ext uri="{FF2B5EF4-FFF2-40B4-BE49-F238E27FC236}">
                <a16:creationId xmlns:a16="http://schemas.microsoft.com/office/drawing/2014/main" id="{C6122400-649A-55EF-C324-B533787317E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59" y="3948184"/>
            <a:ext cx="3514725" cy="2437658"/>
          </a:xfrm>
          <a:prstGeom prst="rect">
            <a:avLst/>
          </a:prstGeom>
        </p:spPr>
      </p:pic>
      <p:pic>
        <p:nvPicPr>
          <p:cNvPr id="11" name="Picture 10" descr="Diagram of a beam with lines and text&#10;&#10;Description automatically generated">
            <a:extLst>
              <a:ext uri="{FF2B5EF4-FFF2-40B4-BE49-F238E27FC236}">
                <a16:creationId xmlns:a16="http://schemas.microsoft.com/office/drawing/2014/main" id="{8EFBDDC3-3C26-A23A-7345-B4825336D8D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6184" y="4058924"/>
            <a:ext cx="2585781" cy="2216178"/>
          </a:xfrm>
          <a:prstGeom prst="rect">
            <a:avLst/>
          </a:prstGeom>
        </p:spPr>
      </p:pic>
      <p:pic>
        <p:nvPicPr>
          <p:cNvPr id="12" name="Picture 11" descr="A machine on a table&#10;&#10;Description automatically generated">
            <a:extLst>
              <a:ext uri="{FF2B5EF4-FFF2-40B4-BE49-F238E27FC236}">
                <a16:creationId xmlns:a16="http://schemas.microsoft.com/office/drawing/2014/main" id="{85FA7488-AA03-51D7-9E3D-0DF3F2EB6B0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90840" y="1288819"/>
            <a:ext cx="2210319" cy="24421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0542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B35AE-8EDD-885F-6294-85ACE14EE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The RTL system has been tested dynamically in the lab to assess its grease detection performance in the field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BCB3E-725E-E582-C037-8D2DFAE28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5198" y="4780555"/>
            <a:ext cx="5376802" cy="161927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Clear distinction in fluorescence intensity voltage was observed across lightly, moderately and heavily lubricated 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D8345-93C2-5BD2-CB22-DBEE4184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 descr="A collage of a metal track&#10;&#10;Description automatically generated with medium confidence">
            <a:extLst>
              <a:ext uri="{FF2B5EF4-FFF2-40B4-BE49-F238E27FC236}">
                <a16:creationId xmlns:a16="http://schemas.microsoft.com/office/drawing/2014/main" id="{C81BEC8E-5FCA-7C71-792B-5411A9407C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221" y="1669129"/>
            <a:ext cx="6369741" cy="4362160"/>
          </a:xfrm>
          <a:prstGeom prst="rect">
            <a:avLst/>
          </a:prstGeom>
        </p:spPr>
      </p:pic>
      <p:pic>
        <p:nvPicPr>
          <p:cNvPr id="6" name="Picture 5" descr="A graph of a diagram&#10;&#10;Description automatically generated">
            <a:extLst>
              <a:ext uri="{FF2B5EF4-FFF2-40B4-BE49-F238E27FC236}">
                <a16:creationId xmlns:a16="http://schemas.microsoft.com/office/drawing/2014/main" id="{B0214FB8-CD07-3070-AE50-F4FB804645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309" y="1436010"/>
            <a:ext cx="5139233" cy="3224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91600A-1380-76B3-5826-14C1F7B9D819}"/>
              </a:ext>
            </a:extLst>
          </p:cNvPr>
          <p:cNvSpPr txBox="1"/>
          <p:nvPr/>
        </p:nvSpPr>
        <p:spPr>
          <a:xfrm>
            <a:off x="6695555" y="1058575"/>
            <a:ext cx="5317645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8B1F41"/>
                </a:solidFill>
                <a:ea typeface="SimSun" panose="02010600030101010101" pitchFamily="2" charset="-122"/>
              </a:rPr>
              <a:t>Lab dynamic test results</a:t>
            </a:r>
            <a:endParaRPr lang="en-US" sz="1600" b="1" dirty="0">
              <a:solidFill>
                <a:srgbClr val="8B1F41"/>
              </a:solidFill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777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0B885-18F5-D7A7-964D-910928D1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056" y="1513460"/>
            <a:ext cx="9610344" cy="285963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Field Testing the RTL System: Real Rails, Real 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110DD-9AE3-18C6-9574-E858A895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169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B9F12-BD68-89F4-CF31-1F4043F2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i="1" dirty="0"/>
              <a:t>Test Setup: </a:t>
            </a:r>
            <a:r>
              <a:rPr lang="en-US" sz="2800" dirty="0"/>
              <a:t>We mounted the RTL system on a robotic rail cart to conduct the field tests on revenue service tracks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A3B8C-B2E8-5B59-D721-220F8F2E6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7307" y="1754027"/>
            <a:ext cx="4433016" cy="427938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600" dirty="0"/>
              <a:t>Components mounted on the Rail cart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Unit 1 (Right side) and Unit 2 (Left side)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Tachometer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Global Navigation Satellite System (GNSS)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GoPro Cameras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Maximum speed of the rail cart: 5 mph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5B2BD-CBCA-52E4-5453-E149B14A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8</a:t>
            </a:fld>
            <a:endParaRPr lang="en-US" dirty="0"/>
          </a:p>
        </p:txBody>
      </p:sp>
      <p:pic>
        <p:nvPicPr>
          <p:cNvPr id="2058" name="Picture 10" descr="A machine with text on it&#10;&#10;Description automatically generated with medium confidence">
            <a:extLst>
              <a:ext uri="{FF2B5EF4-FFF2-40B4-BE49-F238E27FC236}">
                <a16:creationId xmlns:a16="http://schemas.microsoft.com/office/drawing/2014/main" id="{73954D35-23E7-84D7-6C06-C8DDBB8CF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1677" y="1384100"/>
            <a:ext cx="3594008" cy="244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A machine with wheels and a yellow tank&#10;&#10;Description automatically generated">
            <a:extLst>
              <a:ext uri="{FF2B5EF4-FFF2-40B4-BE49-F238E27FC236}">
                <a16:creationId xmlns:a16="http://schemas.microsoft.com/office/drawing/2014/main" id="{D875FAE3-FEB6-F018-20C7-6E0C27495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16299" y="1370901"/>
            <a:ext cx="3554348" cy="244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 camera mounted on a rail&#10;&#10;Description automatically generated">
            <a:extLst>
              <a:ext uri="{FF2B5EF4-FFF2-40B4-BE49-F238E27FC236}">
                <a16:creationId xmlns:a16="http://schemas.microsoft.com/office/drawing/2014/main" id="{08BAF125-2B8C-4419-1381-8D8BFE9AA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525" y="3840172"/>
            <a:ext cx="3701114" cy="248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1" descr="A machine on the railway tracks&#10;&#10;Description automatically generated">
            <a:extLst>
              <a:ext uri="{FF2B5EF4-FFF2-40B4-BE49-F238E27FC236}">
                <a16:creationId xmlns:a16="http://schemas.microsoft.com/office/drawing/2014/main" id="{1BFCDC7F-CB4A-1C78-0FB8-5F115B310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16299" y="3893722"/>
            <a:ext cx="3554349" cy="243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1">
            <a:extLst>
              <a:ext uri="{FF2B5EF4-FFF2-40B4-BE49-F238E27FC236}">
                <a16:creationId xmlns:a16="http://schemas.microsoft.com/office/drawing/2014/main" id="{B5C10223-6155-16BC-0E93-D66DC0B92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5F87FD-1E97-2D9D-B7BF-9C5A51449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1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84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0E65-9F27-6D6C-D9B9-339816BC5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30" y="2"/>
            <a:ext cx="8403734" cy="1133059"/>
          </a:xfrm>
        </p:spPr>
        <p:txBody>
          <a:bodyPr>
            <a:noAutofit/>
          </a:bodyPr>
          <a:lstStyle/>
          <a:p>
            <a:r>
              <a:rPr lang="en-US" sz="2600" i="1" dirty="0"/>
              <a:t>Field Test Session 1</a:t>
            </a:r>
            <a:r>
              <a:rPr lang="en-US" sz="2600" dirty="0"/>
              <a:t>: We conducted the first round of low-speed field test on a revenue service track in Christiansburg, 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6FAAC-0E9A-C052-8215-5BB85B54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 descr="A map of a forest with a train track&#10;&#10;Description automatically generated">
            <a:extLst>
              <a:ext uri="{FF2B5EF4-FFF2-40B4-BE49-F238E27FC236}">
                <a16:creationId xmlns:a16="http://schemas.microsoft.com/office/drawing/2014/main" id="{E1131C27-8A1F-95E5-399A-DD52080BAA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3382" y="1244073"/>
            <a:ext cx="10225235" cy="50919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06468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BA0E-1852-E12C-E2C8-736F19CE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00" i="1" dirty="0"/>
              <a:t>Field Test Session 2</a:t>
            </a:r>
            <a:r>
              <a:rPr lang="en-US" sz="2600" dirty="0"/>
              <a:t>: We conducted the second round of low-speed field test on a different grease formulation in Roanoke, 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F2F74-0510-6C64-D8FA-0D4774E9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Content Placeholder 4" descr="A map of a road with a graph and a map of a road&#10;&#10;Description automatically generated">
            <a:extLst>
              <a:ext uri="{FF2B5EF4-FFF2-40B4-BE49-F238E27FC236}">
                <a16:creationId xmlns:a16="http://schemas.microsoft.com/office/drawing/2014/main" id="{38F8B914-C0B2-2F90-B66B-E8C216CA42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804" y="1379095"/>
            <a:ext cx="9920392" cy="490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86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DAC38-BC81-0EC2-40D7-7637DBFB5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00" i="1" dirty="0"/>
              <a:t>Results-Session 1</a:t>
            </a:r>
            <a:r>
              <a:rPr lang="en-US" sz="2600" dirty="0"/>
              <a:t>: We developed tricolor charts to represent the lubrication levels on the north and the south rail of the track in Christiansburg, 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39F08-2CA7-4997-0326-D056836E8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13189A79-35AA-9314-6653-7DC883BE7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1319474"/>
            <a:ext cx="11349622" cy="495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63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C0A3-497D-13A4-2780-4C932E3F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Results-Session 2</a:t>
            </a:r>
            <a:r>
              <a:rPr lang="en-US" sz="2700" dirty="0"/>
              <a:t>: A very limited amount of grease was observed on the south rail of the track in Roanoke, 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4E730-5AC2-ADC1-4862-995DE658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Content Placeholder 5" descr="A diagram of a mountain range&#10;&#10;Description automatically generated with medium confidence">
            <a:extLst>
              <a:ext uri="{FF2B5EF4-FFF2-40B4-BE49-F238E27FC236}">
                <a16:creationId xmlns:a16="http://schemas.microsoft.com/office/drawing/2014/main" id="{B8FCDB5F-93A8-BF6C-4315-A6D2F90DA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792" y="1284694"/>
            <a:ext cx="11079774" cy="507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176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709EC-C664-25CC-CC5F-1A75B5F7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13</a:t>
            </a:fld>
            <a:endParaRPr lang="en-US" dirty="0"/>
          </a:p>
        </p:txBody>
      </p:sp>
      <p:pic>
        <p:nvPicPr>
          <p:cNvPr id="35" name="Picture 3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13B915E-AC6C-76F9-4322-1031DFAC2B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6404" y="1992555"/>
            <a:ext cx="7388352" cy="3791239"/>
          </a:xfrm>
          <a:prstGeom prst="rect">
            <a:avLst/>
          </a:prstGeom>
        </p:spPr>
      </p:pic>
      <p:pic>
        <p:nvPicPr>
          <p:cNvPr id="7" name="Content Placeholder 6" descr="A collage of photos of a train track&#10;&#10;AI-generated content may be incorrect.">
            <a:extLst>
              <a:ext uri="{FF2B5EF4-FFF2-40B4-BE49-F238E27FC236}">
                <a16:creationId xmlns:a16="http://schemas.microsoft.com/office/drawing/2014/main" id="{DF0EDAF9-F249-CDFC-6564-E20AA48FA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244" y="1307593"/>
            <a:ext cx="4854852" cy="4844730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79F0EAE0-FC98-AB73-3490-F147B05D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Comparison of the lubricity detection results between the tests in Roanoke and Christiansburg </a:t>
            </a:r>
          </a:p>
        </p:txBody>
      </p:sp>
    </p:spTree>
    <p:extLst>
      <p:ext uri="{BB962C8B-B14F-4D97-AF65-F5344CB8AC3E}">
        <p14:creationId xmlns:p14="http://schemas.microsoft.com/office/powerpoint/2010/main" val="2450145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59C8-D155-C114-8DBF-4BE64B40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system performance was validated with the measurements collected from a push tribometer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86CFB-9261-CD14-1AE2-F4260B468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Content Placeholder 4" descr="A close-up of a graph&#10;&#10;Description automatically generated">
            <a:extLst>
              <a:ext uri="{FF2B5EF4-FFF2-40B4-BE49-F238E27FC236}">
                <a16:creationId xmlns:a16="http://schemas.microsoft.com/office/drawing/2014/main" id="{BBCAFFE7-8947-53D5-F522-45BE656B4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1338" y="1210119"/>
            <a:ext cx="9352005" cy="525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64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DA17-EF39-2FB1-4778-B70E4FAA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00523-B96A-6D6F-EA73-959EFCABA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360" y="1206213"/>
            <a:ext cx="11400182" cy="5139723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 laser-based optical sensing system was developed by RTL for flange grease detection.</a:t>
            </a:r>
          </a:p>
          <a:p>
            <a:pPr>
              <a:lnSpc>
                <a:spcPct val="120000"/>
              </a:lnSpc>
            </a:pPr>
            <a:r>
              <a:rPr lang="en-US" dirty="0"/>
              <a:t>The system offers a reliable, scalable alternative to traditional methods like visual inspection and tribometers.</a:t>
            </a:r>
          </a:p>
          <a:p>
            <a:pPr>
              <a:lnSpc>
                <a:spcPct val="120000"/>
              </a:lnSpc>
            </a:pPr>
            <a:r>
              <a:rPr lang="en-US" dirty="0"/>
              <a:t>Lab tests confirmed sensitivity to grease thickness with clear separation between light, moderate, and heavy lubrication levels.</a:t>
            </a:r>
          </a:p>
          <a:p>
            <a:pPr>
              <a:lnSpc>
                <a:spcPct val="120000"/>
              </a:lnSpc>
            </a:pPr>
            <a:r>
              <a:rPr lang="en-US" dirty="0"/>
              <a:t>Low-speed field tests conducted with a Class I railroad showed effective detection in real-world rail environments.</a:t>
            </a:r>
          </a:p>
          <a:p>
            <a:pPr>
              <a:lnSpc>
                <a:spcPct val="120000"/>
              </a:lnSpc>
            </a:pPr>
            <a:r>
              <a:rPr lang="en-US" dirty="0"/>
              <a:t>GoPro® visual validation confirmed strong alignment with system’s fluorescence-based detections.</a:t>
            </a:r>
          </a:p>
          <a:p>
            <a:pPr>
              <a:lnSpc>
                <a:spcPct val="120000"/>
              </a:lnSpc>
            </a:pPr>
            <a:r>
              <a:rPr lang="en-US" dirty="0"/>
              <a:t>Tribometer COF measurements supported the system’s reliability in identifying lubrication levels.</a:t>
            </a:r>
          </a:p>
          <a:p>
            <a:pPr>
              <a:lnSpc>
                <a:spcPct val="120000"/>
              </a:lnSpc>
            </a:pPr>
            <a:r>
              <a:rPr lang="en-US" dirty="0"/>
              <a:t>The RTL system is a viable onboard solution for continuous grease monitoring in revenue service, overcoming the limitations of intermittent tribometer testing.</a:t>
            </a:r>
          </a:p>
          <a:p>
            <a:r>
              <a:rPr lang="en-US" b="1" dirty="0"/>
              <a:t>Future Scope:</a:t>
            </a:r>
          </a:p>
          <a:p>
            <a:pPr lvl="1"/>
            <a:r>
              <a:rPr lang="en-US" sz="3600" dirty="0"/>
              <a:t>Evaluate the performance of the system at higher speeds of up to 30 mph by mounting the system on Hyrail vehicles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883E7-8DCA-71F8-4721-0D83DB47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816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10DF-AAAC-E748-1250-2256638EF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281" y="818202"/>
            <a:ext cx="8087415" cy="109953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13337-4B25-B072-14AD-EED108FF0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0034" y="2181341"/>
            <a:ext cx="8087415" cy="3143324"/>
          </a:xfrm>
        </p:spPr>
        <p:txBody>
          <a:bodyPr>
            <a:normAutofit/>
          </a:bodyPr>
          <a:lstStyle/>
          <a:p>
            <a:pPr algn="ctr"/>
            <a:r>
              <a:rPr lang="en-US" b="0" dirty="0">
                <a:solidFill>
                  <a:srgbClr val="FFC000"/>
                </a:solidFill>
              </a:rPr>
              <a:t>The funding provided by the Federal Railroad Administration (FRA) is greatly acknowledged.  </a:t>
            </a:r>
          </a:p>
          <a:p>
            <a:pPr algn="ctr"/>
            <a:r>
              <a:rPr lang="en-US" b="0" dirty="0">
                <a:solidFill>
                  <a:srgbClr val="FFC000"/>
                </a:solidFill>
              </a:rPr>
              <a:t>We are grateful to our program managers, Ms. Alexandra D'Andrea and Dr. Abe Meddah, for  their strong support and many technical discussions.</a:t>
            </a:r>
          </a:p>
          <a:p>
            <a:pPr algn="ctr"/>
            <a:r>
              <a:rPr lang="en-US" b="0" dirty="0">
                <a:solidFill>
                  <a:srgbClr val="FFC000"/>
                </a:solidFill>
              </a:rPr>
              <a:t>Many aspects of the project would have not been possible without tremendous support of Norfolk Southern (NS) in conducting revenue service track tests. </a:t>
            </a:r>
          </a:p>
          <a:p>
            <a:endParaRPr lang="en-US" b="0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2C73A-B8AD-A272-6BB9-DC5FCE0E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499B-0491-FA4B-B840-CD62B71F6EB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650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4720</TotalTime>
  <Words>905</Words>
  <Application>Microsoft Macintosh PowerPoint</Application>
  <PresentationFormat>Widescreen</PresentationFormat>
  <Paragraphs>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SimSun</vt:lpstr>
      <vt:lpstr>Aptos</vt:lpstr>
      <vt:lpstr>Aptos Display</vt:lpstr>
      <vt:lpstr>Arial</vt:lpstr>
      <vt:lpstr>Office Theme</vt:lpstr>
      <vt:lpstr>Avoiding the Curveball: Detecting Missing Rail Grease with Mobile Lasers</vt:lpstr>
      <vt:lpstr>Outline</vt:lpstr>
      <vt:lpstr>Keeping Trains on Track: The Role of Flange Lubrication in Safety and Maintenance</vt:lpstr>
      <vt:lpstr>Track Smarter: A Call for Scalable, Non-Contact Lubrication Assessment</vt:lpstr>
      <vt:lpstr>Solution? RTL’s Non-Contact Optical Grease Detection System</vt:lpstr>
      <vt:lpstr>The RTL system has been tested dynamically in the lab to assess its grease detection performance in the field</vt:lpstr>
      <vt:lpstr>Field Testing the RTL System: Real Rails, Real Conditions</vt:lpstr>
      <vt:lpstr>Test Setup: We mounted the RTL system on a robotic rail cart to conduct the field tests on revenue service tracks</vt:lpstr>
      <vt:lpstr>Field Test Session 1: We conducted the first round of low-speed field test on a revenue service track in Christiansburg, VA</vt:lpstr>
      <vt:lpstr>Field Test Session 2: We conducted the second round of low-speed field test on a different grease formulation in Roanoke, VA</vt:lpstr>
      <vt:lpstr>Results-Session 1: We developed tricolor charts to represent the lubrication levels on the north and the south rail of the track in Christiansburg, VA</vt:lpstr>
      <vt:lpstr>Results-Session 2: A very limited amount of grease was observed on the south rail of the track in Roanoke, VA</vt:lpstr>
      <vt:lpstr>Comparison of the lubricity detection results between the tests in Roanoke and Christiansburg </vt:lpstr>
      <vt:lpstr>The system performance was validated with the measurements collected from a push tribometer</vt:lpstr>
      <vt:lpstr>Conclusions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Mahon - Network</dc:creator>
  <cp:lastModifiedBy>Ahmadian, Mehdi</cp:lastModifiedBy>
  <cp:revision>50</cp:revision>
  <dcterms:created xsi:type="dcterms:W3CDTF">2025-01-14T14:38:44Z</dcterms:created>
  <dcterms:modified xsi:type="dcterms:W3CDTF">2025-05-28T06:59:03Z</dcterms:modified>
</cp:coreProperties>
</file>